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73" r:id="rId4"/>
    <p:sldId id="274" r:id="rId5"/>
    <p:sldId id="275" r:id="rId6"/>
    <p:sldId id="276" r:id="rId7"/>
    <p:sldId id="278" r:id="rId8"/>
    <p:sldId id="279" r:id="rId9"/>
    <p:sldId id="280" r:id="rId10"/>
    <p:sldId id="272" r:id="rId11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275"/>
    <a:srgbClr val="1B3073"/>
    <a:srgbClr val="9FBD3B"/>
    <a:srgbClr val="576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5741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12" y="320611"/>
            <a:ext cx="1201737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9328" y="1895982"/>
            <a:ext cx="11282680" cy="3522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31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Toledo-alt7/Dominox.git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8F7144E8-36AA-4CF1-B18F-4C998F11B8E6}"/>
              </a:ext>
            </a:extLst>
          </p:cNvPr>
          <p:cNvSpPr/>
          <p:nvPr/>
        </p:nvSpPr>
        <p:spPr>
          <a:xfrm>
            <a:off x="1828800" y="2971800"/>
            <a:ext cx="6705600" cy="1447800"/>
          </a:xfrm>
          <a:prstGeom prst="round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kumimoji="0" lang="pt-BR" sz="20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Felipe de Toledo Moraes – </a:t>
            </a:r>
            <a:r>
              <a:rPr lang="pt-BR" b="1" dirty="0">
                <a:solidFill>
                  <a:schemeClr val="bg1"/>
                </a:solidFill>
              </a:rPr>
              <a:t>RA: 26.01393-8</a:t>
            </a:r>
            <a:endParaRPr kumimoji="0" lang="pt-BR" sz="20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defRPr/>
            </a:pPr>
            <a:r>
              <a:rPr lang="pt-BR" sz="2000" kern="0" dirty="0">
                <a:solidFill>
                  <a:schemeClr val="bg1"/>
                </a:solidFill>
                <a:latin typeface="Calibri" panose="020F0502020204030204"/>
              </a:rPr>
              <a:t>Lucas Caldeira de Andrade – </a:t>
            </a:r>
            <a:r>
              <a:rPr lang="pt-BR" b="1" dirty="0">
                <a:solidFill>
                  <a:schemeClr val="bg1"/>
                </a:solidFill>
              </a:rPr>
              <a:t>RA: 26.01457-1</a:t>
            </a:r>
            <a:endParaRPr lang="pt-BR" sz="2000" kern="0" dirty="0">
              <a:solidFill>
                <a:schemeClr val="bg1"/>
              </a:solidFill>
              <a:latin typeface="Calibri" panose="020F0502020204030204"/>
            </a:endParaRPr>
          </a:p>
          <a:p>
            <a:pPr>
              <a:defRPr/>
            </a:pPr>
            <a:r>
              <a:rPr kumimoji="0" lang="pt-BR" sz="20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Pedro Nanci Milani – </a:t>
            </a:r>
            <a:r>
              <a:rPr lang="pt-BR" b="1" dirty="0">
                <a:solidFill>
                  <a:schemeClr val="bg1"/>
                </a:solidFill>
              </a:rPr>
              <a:t>RA: 26.00827-6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0224E2B-0B81-4735-968C-4EB5D382A94A}"/>
              </a:ext>
            </a:extLst>
          </p:cNvPr>
          <p:cNvSpPr/>
          <p:nvPr/>
        </p:nvSpPr>
        <p:spPr>
          <a:xfrm>
            <a:off x="1828800" y="441767"/>
            <a:ext cx="4648200" cy="625033"/>
          </a:xfrm>
          <a:prstGeom prst="round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Projeto Integrador Interdisciplinar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1BD897-B763-46EB-9EED-C8987C1680DE}"/>
              </a:ext>
            </a:extLst>
          </p:cNvPr>
          <p:cNvSpPr txBox="1"/>
          <p:nvPr/>
        </p:nvSpPr>
        <p:spPr>
          <a:xfrm>
            <a:off x="2209800" y="2133600"/>
            <a:ext cx="8965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err="1">
                <a:solidFill>
                  <a:schemeClr val="bg1"/>
                </a:solidFill>
              </a:rPr>
              <a:t>Dominox</a:t>
            </a:r>
            <a:r>
              <a:rPr lang="pt-BR" sz="2400" b="1" dirty="0">
                <a:solidFill>
                  <a:schemeClr val="bg1"/>
                </a:solidFill>
              </a:rPr>
              <a:t>: O dominó da química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E6E8D73D-72F4-B6D4-65CA-91FCCA936DCF}"/>
              </a:ext>
            </a:extLst>
          </p:cNvPr>
          <p:cNvSpPr/>
          <p:nvPr/>
        </p:nvSpPr>
        <p:spPr>
          <a:xfrm>
            <a:off x="7086600" y="373285"/>
            <a:ext cx="3966210" cy="625033"/>
          </a:xfrm>
          <a:prstGeom prst="roundRect">
            <a:avLst/>
          </a:prstGeom>
          <a:solidFill>
            <a:srgbClr val="9FBD3B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17327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Parceiro:</a:t>
            </a:r>
            <a:r>
              <a:rPr lang="pt-BR" sz="2000" b="1" kern="0" dirty="0">
                <a:solidFill>
                  <a:srgbClr val="173275"/>
                </a:solidFill>
                <a:latin typeface="Calibri" panose="020F0502020204030204"/>
              </a:rPr>
              <a:t> </a:t>
            </a:r>
            <a:r>
              <a:rPr lang="pt-BR" sz="2000" dirty="0">
                <a:solidFill>
                  <a:srgbClr val="173275"/>
                </a:solidFill>
              </a:rPr>
              <a:t>ETEC Júlio de Mesquita</a:t>
            </a:r>
            <a:endParaRPr kumimoji="0" lang="pt-BR" sz="2000" i="0" u="none" strike="noStrike" kern="0" cap="none" spc="0" normalizeH="0" baseline="0" noProof="0" dirty="0">
              <a:ln>
                <a:noFill/>
              </a:ln>
              <a:solidFill>
                <a:srgbClr val="17327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cs typeface="Calibri Light"/>
              </a:rPr>
              <a:t>Descrição do Projeto - Problema</a:t>
            </a:r>
            <a:endParaRPr sz="3600" b="1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3003055-4ED3-4DB6-903E-B3A96CD78C86}"/>
              </a:ext>
            </a:extLst>
          </p:cNvPr>
          <p:cNvSpPr txBox="1">
            <a:spLocks/>
          </p:cNvSpPr>
          <p:nvPr/>
        </p:nvSpPr>
        <p:spPr>
          <a:xfrm>
            <a:off x="807839" y="2037850"/>
            <a:ext cx="10622161" cy="3448549"/>
          </a:xfrm>
          <a:prstGeom prst="rect">
            <a:avLst/>
          </a:prstGeom>
        </p:spPr>
        <p:txBody>
          <a:bodyPr lIns="0" tIns="0" rIns="0" bIns="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pt-BR" sz="2800" dirty="0"/>
              <a:t>Métodos tradicionais (giz e lousa) geram desengajamento na memorização abstrata de fórmulas e nomenclaturas de ácidos, bases, sais e óxidos.</a:t>
            </a:r>
            <a:endParaRPr lang="pt-BR" sz="2800" dirty="0">
              <a:latin typeface="+mn-lt"/>
            </a:endParaRPr>
          </a:p>
        </p:txBody>
      </p:sp>
      <p:pic>
        <p:nvPicPr>
          <p:cNvPr id="1026" name="Picture 2" descr="Funções Inorgânicas. Subseção sobre funções inorgânicas">
            <a:extLst>
              <a:ext uri="{FF2B5EF4-FFF2-40B4-BE49-F238E27FC236}">
                <a16:creationId xmlns:a16="http://schemas.microsoft.com/office/drawing/2014/main" id="{EA56DE87-8271-74FE-F5BC-FC0499BA8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7" y="3429000"/>
            <a:ext cx="6905625" cy="270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C518-F0FB-2473-7592-9819AD66E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FB844C-EF59-8C37-EB88-2AE96E2170D9}"/>
              </a:ext>
            </a:extLst>
          </p:cNvPr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cs typeface="Calibri Light"/>
              </a:rPr>
              <a:t>Descrição Geral – Objetivo do Sistema</a:t>
            </a:r>
            <a:endParaRPr sz="3600" b="1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3E4C4AA-3FE5-93F1-1A56-96AF314A683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2D757BF-1917-8A47-300C-ABB2653D1530}"/>
              </a:ext>
            </a:extLst>
          </p:cNvPr>
          <p:cNvSpPr txBox="1">
            <a:spLocks/>
          </p:cNvSpPr>
          <p:nvPr/>
        </p:nvSpPr>
        <p:spPr>
          <a:xfrm>
            <a:off x="381001" y="1828800"/>
            <a:ext cx="7467600" cy="3448549"/>
          </a:xfrm>
          <a:prstGeom prst="rect">
            <a:avLst/>
          </a:prstGeom>
        </p:spPr>
        <p:txBody>
          <a:bodyPr lIns="0" tIns="0" rIns="0" bIns="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</a:rPr>
              <a:t>Nesse contexto, propõe-se o desenvolvimento de um jogo virtual no formato de dominó educacional digital, com o objetivo dos alunos obterem um maior rendimento na matéria de química. Dentro do jogo, cada peça apresenta informações químicas complementares. 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</a:rPr>
              <a:t>O aluno deverá conectar corretamente as peças para formar cadeias válidas, reforçando o reconhecimento das funções inorgânicas e suas características.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EE58C28-D630-446F-5B57-8991853293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896" y="1676400"/>
            <a:ext cx="4176884" cy="41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2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4095-8117-2400-D6FE-D26EEFD5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89C527B-2DD7-310C-020E-7855A2D27DCC}"/>
              </a:ext>
            </a:extLst>
          </p:cNvPr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cs typeface="Calibri Light"/>
              </a:rPr>
              <a:t>Modelagem - Requisitos do Software</a:t>
            </a:r>
            <a:endParaRPr sz="3600" b="1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C7A647D-D08E-F7E7-CF2B-01F6DDB0F15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66D075B3-93FD-EC77-4A26-2BF3933CC246}"/>
              </a:ext>
            </a:extLst>
          </p:cNvPr>
          <p:cNvSpPr txBox="1">
            <a:spLocks/>
          </p:cNvSpPr>
          <p:nvPr/>
        </p:nvSpPr>
        <p:spPr>
          <a:xfrm>
            <a:off x="705202" y="2057400"/>
            <a:ext cx="10622161" cy="3448549"/>
          </a:xfrm>
          <a:prstGeom prst="rect">
            <a:avLst/>
          </a:prstGeom>
        </p:spPr>
        <p:txBody>
          <a:bodyPr lIns="0" tIns="0" rIns="0" bIns="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</a:rPr>
              <a:t>RF01 (Escopo Principal): Geração e posicionamento dinâmico de peças com dupla face.  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</a:rPr>
              <a:t>RF04 (Pedagógico): Sistema de progressão automática em 5 níveis de complexidade.  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</a:rPr>
              <a:t>RF20 (Regra de Negócio): Pontuação baseada em acertos e erros para incentivar a precisão.  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</a:rPr>
              <a:t>RNF01 (Usabilidade): Interface leve desenvolvida em Java Swing, adaptada ao hardware da instituição parceira.</a:t>
            </a:r>
          </a:p>
        </p:txBody>
      </p:sp>
    </p:spTree>
    <p:extLst>
      <p:ext uri="{BB962C8B-B14F-4D97-AF65-F5344CB8AC3E}">
        <p14:creationId xmlns:p14="http://schemas.microsoft.com/office/powerpoint/2010/main" val="4525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5FAEF-15B7-57A6-7F32-A3633301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237177-B9AA-AE0A-EA38-E48CC3003D7E}"/>
              </a:ext>
            </a:extLst>
          </p:cNvPr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cs typeface="Calibri Light"/>
              </a:rPr>
              <a:t>Modelagem - Classes </a:t>
            </a:r>
            <a:endParaRPr sz="3600" b="1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A1F502B-13C1-821D-2295-0A0DAF9B799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EAAA311-84F1-AB5A-4CD8-570008F9E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197" y="1395850"/>
            <a:ext cx="10301605" cy="425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34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112F-A345-45D9-4D7A-4708F0633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9CA7324-85DD-85E3-B1B4-82FEE01FD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447800"/>
            <a:ext cx="4631678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DCA4908-7850-F867-0D9C-CFAB273F3FAB}"/>
              </a:ext>
            </a:extLst>
          </p:cNvPr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dirty="0">
                <a:solidFill>
                  <a:schemeClr val="bg1"/>
                </a:solidFill>
                <a:latin typeface="Calibri Light"/>
                <a:cs typeface="Calibri Light"/>
              </a:rPr>
              <a:t>Banco de Dados - Modelo</a:t>
            </a:r>
            <a:endParaRPr sz="3600" b="1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52C8049-E55C-CE77-F084-89170483C6D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52256F13-03F1-F56B-41BB-F351B646F28A}"/>
              </a:ext>
            </a:extLst>
          </p:cNvPr>
          <p:cNvSpPr txBox="1">
            <a:spLocks/>
          </p:cNvSpPr>
          <p:nvPr/>
        </p:nvSpPr>
        <p:spPr>
          <a:xfrm>
            <a:off x="685800" y="1752600"/>
            <a:ext cx="3992761" cy="2606617"/>
          </a:xfrm>
          <a:prstGeom prst="rect">
            <a:avLst/>
          </a:prstGeom>
        </p:spPr>
        <p:txBody>
          <a:bodyPr lIns="0" tIns="0" rIns="0" bIns="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</a:rPr>
              <a:t>Feito com: MySQL Workbench;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</a:rPr>
              <a:t>Registra usuário e partidas; e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</a:rPr>
              <a:t>Usado para login e para gerar relatórios.</a:t>
            </a:r>
          </a:p>
        </p:txBody>
      </p:sp>
      <p:pic>
        <p:nvPicPr>
          <p:cNvPr id="3078" name="Picture 6" descr="ícone de Mysql simples a marca logo">
            <a:extLst>
              <a:ext uri="{FF2B5EF4-FFF2-40B4-BE49-F238E27FC236}">
                <a16:creationId xmlns:a16="http://schemas.microsoft.com/office/drawing/2014/main" id="{483D4CF5-6F47-DE4E-3C07-0AA153845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028927"/>
            <a:ext cx="2354767" cy="2354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15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F4A53-6E39-2B4C-781A-4BE3599F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6168FB-E257-6322-3C92-1F52A114A260}"/>
              </a:ext>
            </a:extLst>
          </p:cNvPr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cs typeface="Calibri Light"/>
              </a:rPr>
              <a:t>Interface – Fase 1 e 2</a:t>
            </a:r>
            <a:endParaRPr sz="3600" b="1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14033F8-81B2-44C5-E37E-1EC7E48301B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647324-C186-6D68-1C86-77CBA3E22D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600200"/>
            <a:ext cx="6441660" cy="332321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219AA35-645E-F5DA-9BD2-3B819C1214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54" y="2743200"/>
            <a:ext cx="6157076" cy="31731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2435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A2C6-67C5-8065-20CA-114D11BF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4" name="Picture 14" descr="ChangeVision Astah - YouTube">
            <a:extLst>
              <a:ext uri="{FF2B5EF4-FFF2-40B4-BE49-F238E27FC236}">
                <a16:creationId xmlns:a16="http://schemas.microsoft.com/office/drawing/2014/main" id="{0C8B6F86-DF49-906E-09A7-496C087DD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244" y="3064737"/>
            <a:ext cx="883192" cy="88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3A239C6-690F-1B47-3C6C-B0EBF198C9E5}"/>
              </a:ext>
            </a:extLst>
          </p:cNvPr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cs typeface="Calibri Light"/>
              </a:rPr>
              <a:t>Tecnologias Utilizadas</a:t>
            </a:r>
            <a:endParaRPr sz="3600" b="1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9068D5A-ADA8-4FAD-A034-E7C15B788A7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pic>
        <p:nvPicPr>
          <p:cNvPr id="6" name="Picture 6" descr="ícone de Mysql simples a marca logo">
            <a:extLst>
              <a:ext uri="{FF2B5EF4-FFF2-40B4-BE49-F238E27FC236}">
                <a16:creationId xmlns:a16="http://schemas.microsoft.com/office/drawing/2014/main" id="{2906FD18-9B57-AC45-6963-A93CCC8CD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96424"/>
            <a:ext cx="1953498" cy="1953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Figma Icon | Figma">
            <a:extLst>
              <a:ext uri="{FF2B5EF4-FFF2-40B4-BE49-F238E27FC236}">
                <a16:creationId xmlns:a16="http://schemas.microsoft.com/office/drawing/2014/main" id="{1316A7A6-AC18-62EA-F638-75A0C05B4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123688"/>
            <a:ext cx="854392" cy="109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C7BE68B-55EE-665A-326F-648909F56A7A}"/>
              </a:ext>
            </a:extLst>
          </p:cNvPr>
          <p:cNvSpPr txBox="1"/>
          <p:nvPr/>
        </p:nvSpPr>
        <p:spPr>
          <a:xfrm>
            <a:off x="723900" y="4665493"/>
            <a:ext cx="1724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Banco de Dados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2BC9CEB-CA80-49B0-6080-D01162D58178}"/>
              </a:ext>
            </a:extLst>
          </p:cNvPr>
          <p:cNvSpPr txBox="1"/>
          <p:nvPr/>
        </p:nvSpPr>
        <p:spPr>
          <a:xfrm>
            <a:off x="2841347" y="4526994"/>
            <a:ext cx="1724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Prototipação e Design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DA9B7C6-BFF1-BE64-C1DB-98A4453DDA37}"/>
              </a:ext>
            </a:extLst>
          </p:cNvPr>
          <p:cNvSpPr txBox="1"/>
          <p:nvPr/>
        </p:nvSpPr>
        <p:spPr>
          <a:xfrm>
            <a:off x="4910871" y="4665493"/>
            <a:ext cx="1974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 err="1"/>
              <a:t>IDE’s</a:t>
            </a:r>
            <a:endParaRPr lang="pt-BR" dirty="0"/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810E6AC1-4E90-0D66-D2E7-066CB0A90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494" y="3238627"/>
            <a:ext cx="971768" cy="97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2D236A4-281F-D8E8-C4BF-3771EFD5B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788" y="3163801"/>
            <a:ext cx="971768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Java - ícones de logotipo grátis">
            <a:extLst>
              <a:ext uri="{FF2B5EF4-FFF2-40B4-BE49-F238E27FC236}">
                <a16:creationId xmlns:a16="http://schemas.microsoft.com/office/drawing/2014/main" id="{E01B74F2-25F1-DA4B-2C96-2AA8F5B98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58" y="3062448"/>
            <a:ext cx="1324126" cy="13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1C969AC3-6342-FE3B-D0AB-B0A4B27BB256}"/>
              </a:ext>
            </a:extLst>
          </p:cNvPr>
          <p:cNvSpPr txBox="1"/>
          <p:nvPr/>
        </p:nvSpPr>
        <p:spPr>
          <a:xfrm>
            <a:off x="7551337" y="4509700"/>
            <a:ext cx="1724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Linguagem de Programação</a:t>
            </a:r>
          </a:p>
        </p:txBody>
      </p:sp>
      <p:pic>
        <p:nvPicPr>
          <p:cNvPr id="5132" name="Picture 12" descr="Add an icon to your app">
            <a:extLst>
              <a:ext uri="{FF2B5EF4-FFF2-40B4-BE49-F238E27FC236}">
                <a16:creationId xmlns:a16="http://schemas.microsoft.com/office/drawing/2014/main" id="{FF4C2B32-3D87-4AFE-9018-901CD1E21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1216" y="3104065"/>
            <a:ext cx="811972" cy="81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0" name="Picture 20" descr="Canva Icon PNGs for Free Download">
            <a:extLst>
              <a:ext uri="{FF2B5EF4-FFF2-40B4-BE49-F238E27FC236}">
                <a16:creationId xmlns:a16="http://schemas.microsoft.com/office/drawing/2014/main" id="{1CC04172-11A2-42BD-E770-F5E26C3FF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197" y="3289373"/>
            <a:ext cx="1478334" cy="147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962C61B8-CA1A-83C8-A870-F0DD1C858332}"/>
              </a:ext>
            </a:extLst>
          </p:cNvPr>
          <p:cNvSpPr txBox="1"/>
          <p:nvPr/>
        </p:nvSpPr>
        <p:spPr>
          <a:xfrm>
            <a:off x="9858915" y="4665493"/>
            <a:ext cx="1724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Modelagem</a:t>
            </a:r>
          </a:p>
        </p:txBody>
      </p:sp>
    </p:spTree>
    <p:extLst>
      <p:ext uri="{BB962C8B-B14F-4D97-AF65-F5344CB8AC3E}">
        <p14:creationId xmlns:p14="http://schemas.microsoft.com/office/powerpoint/2010/main" val="3592247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CD67-E1AD-8DD1-3108-A7B84B1E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FFFE3C-CB13-4E80-C6B5-BD1BF2DD3C1A}"/>
              </a:ext>
            </a:extLst>
          </p:cNvPr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cs typeface="Calibri Light"/>
              </a:rPr>
              <a:t>Repositório GitHub</a:t>
            </a:r>
            <a:endParaRPr sz="3600" b="1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FAC6BA8-9F8F-EADE-E6D4-6759B49F631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944CE69-CAEF-0E51-D661-DC884CB9991E}"/>
              </a:ext>
            </a:extLst>
          </p:cNvPr>
          <p:cNvSpPr txBox="1"/>
          <p:nvPr/>
        </p:nvSpPr>
        <p:spPr>
          <a:xfrm>
            <a:off x="1066093" y="3048000"/>
            <a:ext cx="100598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u="sng" dirty="0">
                <a:hlinkClick r:id="rId2"/>
              </a:rPr>
              <a:t>https://github.com/Toledo-alt7/Dominox.git</a:t>
            </a:r>
            <a:endParaRPr lang="pt-BR" sz="4000" dirty="0"/>
          </a:p>
          <a:p>
            <a:pPr algn="ctr"/>
            <a:endParaRPr lang="pt-BR" sz="4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04A6AB-B4D5-6521-7A88-C96CF47F81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607896"/>
            <a:ext cx="2616776" cy="2616776"/>
          </a:xfrm>
          <a:prstGeom prst="rect">
            <a:avLst/>
          </a:prstGeom>
        </p:spPr>
      </p:pic>
      <p:pic>
        <p:nvPicPr>
          <p:cNvPr id="6146" name="Picture 2" descr="Github Logo - Free social media icons">
            <a:extLst>
              <a:ext uri="{FF2B5EF4-FFF2-40B4-BE49-F238E27FC236}">
                <a16:creationId xmlns:a16="http://schemas.microsoft.com/office/drawing/2014/main" id="{C61C0E24-D061-B15C-6062-E81789930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911664"/>
            <a:ext cx="2009239" cy="200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61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3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l="37120" t="48248" r="34405" b="27269"/>
          <a:stretch>
            <a:fillRect/>
          </a:stretch>
        </p:blipFill>
        <p:spPr>
          <a:xfrm>
            <a:off x="4495800" y="2286000"/>
            <a:ext cx="3200400" cy="147732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AA12FCA-6796-7E1D-DAE3-42477A5A7E61}"/>
              </a:ext>
            </a:extLst>
          </p:cNvPr>
          <p:cNvSpPr txBox="1"/>
          <p:nvPr/>
        </p:nvSpPr>
        <p:spPr>
          <a:xfrm>
            <a:off x="4190749" y="4015264"/>
            <a:ext cx="3810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Campus São Caetano do Sul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Praça Mauá 1 São Caetano do Sul - SP</a:t>
            </a:r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</TotalTime>
  <Words>305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Victor Hugo Regep Silva</dc:creator>
  <cp:lastModifiedBy>PEDRO NANCI MILANI</cp:lastModifiedBy>
  <cp:revision>7</cp:revision>
  <dcterms:created xsi:type="dcterms:W3CDTF">2023-08-08T10:49:40Z</dcterms:created>
  <dcterms:modified xsi:type="dcterms:W3CDTF">2026-06-12T19:56:53Z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2022-08-09T00:00:00Z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2023-08-08T00:00:00Z</vt:filetime>
  </property>
</Properties>
</file>